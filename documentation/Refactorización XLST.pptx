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2" r:id="rId5"/>
    <p:sldId id="260" r:id="rId6"/>
    <p:sldId id="263" r:id="rId7"/>
    <p:sldId id="261" r:id="rId8"/>
  </p:sldIdLst>
  <p:sldSz cx="12192000" cy="6858000"/>
  <p:notesSz cx="6797675" cy="99266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20/09/2026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3403922" y="276463"/>
            <a:ext cx="2113720" cy="1641634"/>
            <a:chOff x="1634011" y="1307911"/>
            <a:chExt cx="2113720" cy="164163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1634011" y="2210881"/>
              <a:ext cx="2113720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</a:t>
              </a:r>
            </a:p>
            <a:p>
              <a:pPr algn="ctr"/>
              <a:r>
                <a:rPr lang="es-ES" sz="1400" dirty="0">
                  <a:latin typeface="+mj-lt"/>
                </a:rPr>
                <a:t>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450654" y="941432"/>
            <a:ext cx="2930289" cy="1857077"/>
            <a:chOff x="1225733" y="1307911"/>
            <a:chExt cx="2930289" cy="1857077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1225733" y="2210881"/>
              <a:ext cx="293028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</a:t>
              </a:r>
            </a:p>
            <a:p>
              <a:pPr algn="ctr"/>
              <a:r>
                <a:rPr lang="es-ES" sz="1400" dirty="0">
                  <a:latin typeface="+mj-lt"/>
                </a:rPr>
                <a:t>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516713"/>
            <a:chOff x="4425036" y="3311364"/>
            <a:chExt cx="3341941" cy="2516713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287965"/>
              <a:chOff x="1019916" y="1307911"/>
              <a:chExt cx="3341941" cy="2287965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/class_labels.xsl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798509"/>
            <a:ext cx="1683170" cy="1017554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697086" y="3228184"/>
            <a:ext cx="1872629" cy="2301269"/>
            <a:chOff x="5159691" y="3311364"/>
            <a:chExt cx="1872629" cy="2301269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159691" y="3540112"/>
              <a:ext cx="1872629" cy="2072521"/>
              <a:chOff x="1754571" y="1307911"/>
              <a:chExt cx="1872629" cy="2072521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754571" y="2210881"/>
                <a:ext cx="1872629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/generate_table.xsl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10657" y="778370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277021" y="735499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348435" y="2613941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844427" y="2681538"/>
            <a:ext cx="3426579" cy="4024818"/>
            <a:chOff x="4382720" y="3311364"/>
            <a:chExt cx="3426579" cy="4024818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382720" y="3540112"/>
              <a:ext cx="3426579" cy="3796070"/>
              <a:chOff x="977600" y="1307911"/>
              <a:chExt cx="3426579" cy="3796070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977600" y="2210881"/>
                <a:ext cx="3426579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/general/comment.xsl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/general/bibliography_item.xsl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/general/meeting.xsl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/general/traceability_matrix.xsl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/any_archetype.xsl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37828" y="2152180"/>
            <a:ext cx="379448" cy="1076005"/>
            <a:chOff x="3593621" y="3106617"/>
            <a:chExt cx="403874" cy="939117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782715" y="3106617"/>
              <a:ext cx="214780" cy="9391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770414">
              <a:off x="3290395" y="3444334"/>
              <a:ext cx="901281" cy="2948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79"/>
            <a:ext cx="1938088" cy="1196149"/>
            <a:chOff x="2303215" y="3192851"/>
            <a:chExt cx="2062826" cy="1043975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82" idx="1"/>
            </p:cNvCxnSpPr>
            <p:nvPr/>
          </p:nvCxnSpPr>
          <p:spPr>
            <a:xfrm>
              <a:off x="2303215" y="3192851"/>
              <a:ext cx="2062826" cy="1043975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875661">
              <a:off x="2962574" y="3514971"/>
              <a:ext cx="1099117" cy="2417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498894" y="448408"/>
            <a:ext cx="3637086" cy="4024818"/>
            <a:chOff x="4277467" y="3311364"/>
            <a:chExt cx="3637086" cy="4024818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277467" y="3540112"/>
              <a:ext cx="3637086" cy="3796070"/>
              <a:chOff x="872347" y="1307911"/>
              <a:chExt cx="3637086" cy="3796070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872347" y="2210881"/>
                <a:ext cx="3637086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b="1" dirty="0">
                    <a:latin typeface="+mj-lt"/>
                  </a:rPr>
                  <a:t>¿</a:t>
                </a:r>
                <a:r>
                  <a:rPr lang="es-ES" sz="1400" b="1" dirty="0" err="1">
                    <a:latin typeface="+mj-lt"/>
                  </a:rPr>
                  <a:t>generate_markdown</a:t>
                </a:r>
                <a:r>
                  <a:rPr lang="es-ES" sz="1400" b="1" dirty="0">
                    <a:latin typeface="+mj-lt"/>
                  </a:rPr>
                  <a:t> generar &lt;</a:t>
                </a:r>
                <a:r>
                  <a:rPr lang="es-ES" sz="1400" b="1" dirty="0" err="1">
                    <a:latin typeface="+mj-lt"/>
                  </a:rPr>
                  <a:t>div</a:t>
                </a:r>
                <a:r>
                  <a:rPr lang="es-ES" sz="1400" b="1" dirty="0">
                    <a:latin typeface="+mj-lt"/>
                  </a:rPr>
                  <a:t>&gt; o &lt;p&gt;? -&gt;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No, elimina los &lt;p&gt;…&lt;/p&gt;</a:t>
                </a:r>
                <a:endParaRPr lang="es-ES" sz="1400" dirty="0">
                  <a:latin typeface="+mj-lt"/>
                </a:endParaRPr>
              </a:p>
            </p:txBody>
          </p:sp>
        </p:grp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1C6704D-8145-EC0D-5A9C-A7201169D2A8}"/>
              </a:ext>
            </a:extLst>
          </p:cNvPr>
          <p:cNvGrpSpPr/>
          <p:nvPr/>
        </p:nvGrpSpPr>
        <p:grpSpPr>
          <a:xfrm>
            <a:off x="4120675" y="487474"/>
            <a:ext cx="3802579" cy="2947600"/>
            <a:chOff x="4194721" y="3311364"/>
            <a:chExt cx="3802579" cy="2947600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9E0D1B7-16CD-0139-6FDC-4463620E207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ED9F028-B32B-0E36-D660-05D534100D7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57FA13FF-6079-CE0A-55E8-6828CB04D76F}"/>
                </a:ext>
              </a:extLst>
            </p:cNvPr>
            <p:cNvGrpSpPr/>
            <p:nvPr/>
          </p:nvGrpSpPr>
          <p:grpSpPr>
            <a:xfrm>
              <a:off x="4194721" y="3540112"/>
              <a:ext cx="3802579" cy="2718852"/>
              <a:chOff x="789601" y="1307911"/>
              <a:chExt cx="3802579" cy="2718852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44C95F63-3035-1B49-F872-31C589BEC8E3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18" name="Rectángulo 17">
                  <a:extLst>
                    <a:ext uri="{FF2B5EF4-FFF2-40B4-BE49-F238E27FC236}">
                      <a16:creationId xmlns:a16="http://schemas.microsoft.com/office/drawing/2014/main" id="{B386DAE6-D087-808A-D450-A9E26C1572C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id="{09443C39-01B2-8BE9-3E60-20C83BC1CB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264E60FD-C8DF-5D0B-29E4-84A1AAC7D32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Rectángulo 20">
                  <a:extLst>
                    <a:ext uri="{FF2B5EF4-FFF2-40B4-BE49-F238E27FC236}">
                      <a16:creationId xmlns:a16="http://schemas.microsoft.com/office/drawing/2014/main" id="{BC074D6B-1E0B-C55B-9BB4-C572932FE065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2B427048-FD0F-8ED3-7FD2-1F83426CCD0C}"/>
                  </a:ext>
                </a:extLst>
              </p:cNvPr>
              <p:cNvSpPr txBox="1"/>
              <p:nvPr/>
            </p:nvSpPr>
            <p:spPr>
              <a:xfrm>
                <a:off x="789601" y="2210881"/>
                <a:ext cx="380257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ul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mode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paragraph</a:t>
                </a:r>
                <a:r>
                  <a:rPr lang="es-ES" sz="1400" dirty="0">
                    <a:latin typeface="+mj-lt"/>
                  </a:rPr>
                  <a:t>” (genera &lt;p&gt;&lt;a&gt;)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markdownProperty</a:t>
                </a:r>
                <a:r>
                  <a:rPr lang="es-ES" sz="1400" dirty="0">
                    <a:latin typeface="+mj-lt"/>
                  </a:rPr>
                  <a:t> (llama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urlProperty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enumProperty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fileProperty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traceTypeListProperty</a:t>
                </a:r>
                <a:r>
                  <a:rPr lang="es-ES" sz="1400" dirty="0">
                    <a:latin typeface="+mj-lt"/>
                  </a:rPr>
                  <a:t> (¿dónde se usa?)</a:t>
                </a:r>
              </a:p>
            </p:txBody>
          </p:sp>
        </p:grp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78865189-EDDC-0799-325F-6C1E2C8C0B4A}"/>
              </a:ext>
            </a:extLst>
          </p:cNvPr>
          <p:cNvGrpSpPr/>
          <p:nvPr/>
        </p:nvGrpSpPr>
        <p:grpSpPr>
          <a:xfrm>
            <a:off x="8649370" y="495878"/>
            <a:ext cx="2398990" cy="2516713"/>
            <a:chOff x="4896515" y="3311364"/>
            <a:chExt cx="2398990" cy="2516713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3498B900-5448-8764-40C1-6D771322304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2EE47B3-1655-71B0-F6C1-3B93E028051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7A3FE8F8-C012-819C-457B-466B4BFC2291}"/>
                </a:ext>
              </a:extLst>
            </p:cNvPr>
            <p:cNvGrpSpPr/>
            <p:nvPr/>
          </p:nvGrpSpPr>
          <p:grpSpPr>
            <a:xfrm>
              <a:off x="4896515" y="3540112"/>
              <a:ext cx="2398990" cy="2287965"/>
              <a:chOff x="1491395" y="1307911"/>
              <a:chExt cx="2398990" cy="2287965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F22CBD1F-D17D-577D-555C-70AB7387C6DE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28" name="Rectángulo 27">
                  <a:extLst>
                    <a:ext uri="{FF2B5EF4-FFF2-40B4-BE49-F238E27FC236}">
                      <a16:creationId xmlns:a16="http://schemas.microsoft.com/office/drawing/2014/main" id="{E11B37D2-D291-18D2-10FD-1F12A433D94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9" name="Elipse 28">
                  <a:extLst>
                    <a:ext uri="{FF2B5EF4-FFF2-40B4-BE49-F238E27FC236}">
                      <a16:creationId xmlns:a16="http://schemas.microsoft.com/office/drawing/2014/main" id="{9DE7B7EA-F573-1F72-9D51-BFAC13C5DC6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0" name="Rectángulo 29">
                  <a:extLst>
                    <a:ext uri="{FF2B5EF4-FFF2-40B4-BE49-F238E27FC236}">
                      <a16:creationId xmlns:a16="http://schemas.microsoft.com/office/drawing/2014/main" id="{9B5BB0E3-F299-6C52-9863-68B59ECD3014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82992725-54C0-012B-A7FF-DFD1978AA73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F9DED3D-70C3-4961-F332-0631A7F59BA2}"/>
                  </a:ext>
                </a:extLst>
              </p:cNvPr>
              <p:cNvSpPr txBox="1"/>
              <p:nvPr/>
            </p:nvSpPr>
            <p:spPr>
              <a:xfrm>
                <a:off x="1491395" y="2210881"/>
                <a:ext cx="239899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match con :Proteus-</a:t>
                </a:r>
                <a:r>
                  <a:rPr lang="es-ES" sz="1400" dirty="0" err="1">
                    <a:latin typeface="+mj-lt"/>
                  </a:rPr>
                  <a:t>document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Llama a </a:t>
                </a:r>
                <a:r>
                  <a:rPr lang="es-ES" sz="1400" dirty="0" err="1">
                    <a:latin typeface="+mj-lt"/>
                  </a:rPr>
                  <a:t>document_cover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Genera TOC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Apply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templates</a:t>
                </a:r>
                <a:r>
                  <a:rPr lang="es-ES" sz="1400" dirty="0">
                    <a:latin typeface="+mj-lt"/>
                  </a:rPr>
                  <a:t> a los </a:t>
                </a:r>
                <a:r>
                  <a:rPr lang="es-ES" sz="1400" dirty="0" err="1">
                    <a:latin typeface="+mj-lt"/>
                  </a:rPr>
                  <a:t>children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Conecta con Qt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F7BAE703-AEA9-F983-0DD8-92BADEDEDE59}"/>
              </a:ext>
            </a:extLst>
          </p:cNvPr>
          <p:cNvGrpSpPr/>
          <p:nvPr/>
        </p:nvGrpSpPr>
        <p:grpSpPr>
          <a:xfrm>
            <a:off x="8970808" y="3510839"/>
            <a:ext cx="1933542" cy="2947600"/>
            <a:chOff x="5129239" y="3311364"/>
            <a:chExt cx="1933542" cy="2947600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536381CC-4E1B-A465-2118-CA218DB15C4B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59E51134-4D9F-5AF9-3916-38E8F48D3C2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E7D6D3E-91F2-AC14-E52F-9C0FD87D024A}"/>
                </a:ext>
              </a:extLst>
            </p:cNvPr>
            <p:cNvGrpSpPr/>
            <p:nvPr/>
          </p:nvGrpSpPr>
          <p:grpSpPr>
            <a:xfrm>
              <a:off x="5129239" y="3540112"/>
              <a:ext cx="1933542" cy="2718852"/>
              <a:chOff x="1724119" y="1307911"/>
              <a:chExt cx="1933542" cy="271885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1FA6EA50-7E1D-6E46-F82A-4E204503A2E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C6A0A516-B677-C70C-A310-CB454F1AC6AE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D36FD05-D054-9AC3-A2DF-33CCFD42EB8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Rectángulo 39">
                  <a:extLst>
                    <a:ext uri="{FF2B5EF4-FFF2-40B4-BE49-F238E27FC236}">
                      <a16:creationId xmlns:a16="http://schemas.microsoft.com/office/drawing/2014/main" id="{1E4A09A5-1828-79DF-9B9F-F8E3A091B49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1" name="Rectángulo 40">
                  <a:extLst>
                    <a:ext uri="{FF2B5EF4-FFF2-40B4-BE49-F238E27FC236}">
                      <a16:creationId xmlns:a16="http://schemas.microsoft.com/office/drawing/2014/main" id="{097402D0-BD48-2EBD-A207-710E10C2A986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47CD6D0F-DEC4-9603-41D6-509E0E798D59}"/>
                  </a:ext>
                </a:extLst>
              </p:cNvPr>
              <p:cNvSpPr txBox="1"/>
              <p:nvPr/>
            </p:nvSpPr>
            <p:spPr>
              <a:xfrm>
                <a:off x="1724119" y="2210881"/>
                <a:ext cx="1933542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portada con: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Logo US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Nombre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Versión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Fecha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para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por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DFF74-A618-F2AC-EC39-B068D773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307B4B32-7AF9-FB6F-9298-8E9E46C01DE0}"/>
              </a:ext>
            </a:extLst>
          </p:cNvPr>
          <p:cNvGrpSpPr/>
          <p:nvPr/>
        </p:nvGrpSpPr>
        <p:grpSpPr>
          <a:xfrm>
            <a:off x="638312" y="452201"/>
            <a:ext cx="2568204" cy="2085825"/>
            <a:chOff x="4811908" y="3311364"/>
            <a:chExt cx="2568204" cy="2085825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99C98D6-0396-FC91-1E2E-B3711FB0479D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55D01282-2CE4-6A03-9F52-F5335C3C84A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2FA49B0E-4073-8A18-72D9-D539361EB0ED}"/>
                </a:ext>
              </a:extLst>
            </p:cNvPr>
            <p:cNvGrpSpPr/>
            <p:nvPr/>
          </p:nvGrpSpPr>
          <p:grpSpPr>
            <a:xfrm>
              <a:off x="4811908" y="3540112"/>
              <a:ext cx="2568204" cy="1857077"/>
              <a:chOff x="1406788" y="1307911"/>
              <a:chExt cx="2568204" cy="185707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F6209F96-7DC9-D180-DDE2-0BA975FCC1E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FCB7FD0C-BEE3-5EF1-7B08-68A750E6C2A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5B919FA8-9586-9DFD-28EC-0298B382BDE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78173E30-4025-2731-CE46-57F9C329B57F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5134015D-0779-647B-DF9C-038D96687030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EC95AF9-78AC-73E1-6C98-CF0F377E7A16}"/>
                  </a:ext>
                </a:extLst>
              </p:cNvPr>
              <p:cNvSpPr txBox="1"/>
              <p:nvPr/>
            </p:nvSpPr>
            <p:spPr>
              <a:xfrm>
                <a:off x="1406788" y="2210881"/>
                <a:ext cx="256820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CD10193-CFF3-8835-E78E-11ABDF662FE3}"/>
              </a:ext>
            </a:extLst>
          </p:cNvPr>
          <p:cNvGrpSpPr/>
          <p:nvPr/>
        </p:nvGrpSpPr>
        <p:grpSpPr>
          <a:xfrm>
            <a:off x="3459194" y="452201"/>
            <a:ext cx="2705420" cy="2301269"/>
            <a:chOff x="4743306" y="3311364"/>
            <a:chExt cx="2705420" cy="2301269"/>
          </a:xfrm>
        </p:grpSpPr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32C7E85D-8F9F-1D49-B6AD-44939B5B96C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94B03166-2467-8C95-4040-33164BD4B843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E396EECD-9BD2-E2B0-2342-F25F2E8F24D7}"/>
                </a:ext>
              </a:extLst>
            </p:cNvPr>
            <p:cNvGrpSpPr/>
            <p:nvPr/>
          </p:nvGrpSpPr>
          <p:grpSpPr>
            <a:xfrm>
              <a:off x="4743306" y="3540112"/>
              <a:ext cx="2705420" cy="2072521"/>
              <a:chOff x="1338186" y="1307911"/>
              <a:chExt cx="2705420" cy="2072521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B1D04149-E717-F09C-B259-758D43D0FB0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48" name="Rectángulo 47">
                  <a:extLst>
                    <a:ext uri="{FF2B5EF4-FFF2-40B4-BE49-F238E27FC236}">
                      <a16:creationId xmlns:a16="http://schemas.microsoft.com/office/drawing/2014/main" id="{D1F7EFFF-7DE6-3F50-1A24-E8C4E94C506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9" name="Elipse 48">
                  <a:extLst>
                    <a:ext uri="{FF2B5EF4-FFF2-40B4-BE49-F238E27FC236}">
                      <a16:creationId xmlns:a16="http://schemas.microsoft.com/office/drawing/2014/main" id="{FFD4B123-244D-2AEC-1593-F3DBC53645B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0" name="Rectángulo 49">
                  <a:extLst>
                    <a:ext uri="{FF2B5EF4-FFF2-40B4-BE49-F238E27FC236}">
                      <a16:creationId xmlns:a16="http://schemas.microsoft.com/office/drawing/2014/main" id="{05904334-6E8E-409D-7E62-98429DF447BC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16B24B98-A266-D610-FC6E-0972190C8088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E91BC50B-80D1-B872-4147-F7685FCE050D}"/>
                  </a:ext>
                </a:extLst>
              </p:cNvPr>
              <p:cNvSpPr txBox="1"/>
              <p:nvPr/>
            </p:nvSpPr>
            <p:spPr>
              <a:xfrm>
                <a:off x="1338186" y="2210881"/>
                <a:ext cx="2705420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/general/appendix.xsl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Muy similar a section.xls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52" name="Grupo 51">
            <a:extLst>
              <a:ext uri="{FF2B5EF4-FFF2-40B4-BE49-F238E27FC236}">
                <a16:creationId xmlns:a16="http://schemas.microsoft.com/office/drawing/2014/main" id="{5963B36C-1D5C-644A-1B11-7FAC51C640DB}"/>
              </a:ext>
            </a:extLst>
          </p:cNvPr>
          <p:cNvGrpSpPr/>
          <p:nvPr/>
        </p:nvGrpSpPr>
        <p:grpSpPr>
          <a:xfrm>
            <a:off x="6417292" y="452764"/>
            <a:ext cx="2757934" cy="1870382"/>
            <a:chOff x="4717062" y="3311364"/>
            <a:chExt cx="2757934" cy="1870382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B25D6AA1-C6C4-893F-9335-D767BAE52E8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6930CAB1-8794-0283-F0C8-62B4EE75AFA7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55FF4F96-6FF2-2B98-0A90-BD2CAF8B7B14}"/>
                </a:ext>
              </a:extLst>
            </p:cNvPr>
            <p:cNvGrpSpPr/>
            <p:nvPr/>
          </p:nvGrpSpPr>
          <p:grpSpPr>
            <a:xfrm>
              <a:off x="4717062" y="3540112"/>
              <a:ext cx="2757934" cy="1641634"/>
              <a:chOff x="1311942" y="1307911"/>
              <a:chExt cx="2757934" cy="1641634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35D13028-4365-3315-BCFF-465633A74C5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58" name="Rectángulo 57">
                  <a:extLst>
                    <a:ext uri="{FF2B5EF4-FFF2-40B4-BE49-F238E27FC236}">
                      <a16:creationId xmlns:a16="http://schemas.microsoft.com/office/drawing/2014/main" id="{7C81E750-93DD-9D0E-3A01-7BC3E9A9DBAB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9" name="Elipse 58">
                  <a:extLst>
                    <a:ext uri="{FF2B5EF4-FFF2-40B4-BE49-F238E27FC236}">
                      <a16:creationId xmlns:a16="http://schemas.microsoft.com/office/drawing/2014/main" id="{00FCBD1C-E8BC-37DB-9413-C6093035655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F0AADD75-9364-3F38-458B-780D27A0D6E0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Rectángulo 60">
                  <a:extLst>
                    <a:ext uri="{FF2B5EF4-FFF2-40B4-BE49-F238E27FC236}">
                      <a16:creationId xmlns:a16="http://schemas.microsoft.com/office/drawing/2014/main" id="{FF8E26BE-8D46-5644-960B-0DCC163B80C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00CB2B11-F1CC-B980-36BC-F9C0779080E9}"/>
                  </a:ext>
                </a:extLst>
              </p:cNvPr>
              <p:cNvSpPr txBox="1"/>
              <p:nvPr/>
            </p:nvSpPr>
            <p:spPr>
              <a:xfrm>
                <a:off x="1311942" y="2210881"/>
                <a:ext cx="275793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/general/paragraph.xsl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el texto del párrafo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endParaRPr lang="es-ES" sz="1400" b="1" i="1" dirty="0">
                  <a:latin typeface="+mj-lt"/>
                </a:endParaRPr>
              </a:p>
            </p:txBody>
          </p:sp>
        </p:grp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FD6EA05B-565E-2044-1FBB-F19A29B8DBD5}"/>
              </a:ext>
            </a:extLst>
          </p:cNvPr>
          <p:cNvGrpSpPr/>
          <p:nvPr/>
        </p:nvGrpSpPr>
        <p:grpSpPr>
          <a:xfrm>
            <a:off x="177352" y="3002801"/>
            <a:ext cx="3826817" cy="2085825"/>
            <a:chOff x="4182624" y="3311364"/>
            <a:chExt cx="3826817" cy="2085825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50405F49-8194-66DC-4A73-451F531198B2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4D8A38A6-C060-2F6F-41AB-1551509148A9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D16FBF9-B305-D1B6-A097-E262F67E428A}"/>
                </a:ext>
              </a:extLst>
            </p:cNvPr>
            <p:cNvGrpSpPr/>
            <p:nvPr/>
          </p:nvGrpSpPr>
          <p:grpSpPr>
            <a:xfrm>
              <a:off x="4182624" y="3540112"/>
              <a:ext cx="3826817" cy="1857077"/>
              <a:chOff x="777504" y="1307911"/>
              <a:chExt cx="3826817" cy="1857077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FBD5B220-C9A6-69C0-3201-59A48BC9334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8" name="Rectángulo 67">
                  <a:extLst>
                    <a:ext uri="{FF2B5EF4-FFF2-40B4-BE49-F238E27FC236}">
                      <a16:creationId xmlns:a16="http://schemas.microsoft.com/office/drawing/2014/main" id="{91EC1B53-35D1-5A36-F0E0-9ACF59A07FE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9" name="Elipse 68">
                  <a:extLst>
                    <a:ext uri="{FF2B5EF4-FFF2-40B4-BE49-F238E27FC236}">
                      <a16:creationId xmlns:a16="http://schemas.microsoft.com/office/drawing/2014/main" id="{772CD5F7-44D0-849F-639B-DB8637B79D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0" name="Rectángulo 69">
                  <a:extLst>
                    <a:ext uri="{FF2B5EF4-FFF2-40B4-BE49-F238E27FC236}">
                      <a16:creationId xmlns:a16="http://schemas.microsoft.com/office/drawing/2014/main" id="{DF05BA91-7C0F-C66D-4F63-CEB8A44A1B53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1" name="Rectángulo 70">
                  <a:extLst>
                    <a:ext uri="{FF2B5EF4-FFF2-40B4-BE49-F238E27FC236}">
                      <a16:creationId xmlns:a16="http://schemas.microsoft.com/office/drawing/2014/main" id="{CB4E953D-130F-A6E8-42CA-365AC9B27E14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49D06E81-1EA3-2618-2350-F1CF844612F6}"/>
                  </a:ext>
                </a:extLst>
              </p:cNvPr>
              <p:cNvSpPr txBox="1"/>
              <p:nvPr/>
            </p:nvSpPr>
            <p:spPr>
              <a:xfrm>
                <a:off x="777504" y="2210881"/>
                <a:ext cx="382681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/general/glossary_item.xsl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un &lt;</a:t>
                </a:r>
                <a:r>
                  <a:rPr lang="es-ES" sz="1400" dirty="0" err="1">
                    <a:latin typeface="+mj-lt"/>
                  </a:rPr>
                  <a:t>span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class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glo_name</a:t>
                </a:r>
                <a:r>
                  <a:rPr lang="es-ES" sz="1400" dirty="0">
                    <a:latin typeface="+mj-lt"/>
                  </a:rPr>
                  <a:t>”&gt; con el 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nombre y el resto 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.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Si hay imagen, la añade en un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12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1C02-4C4F-BEAD-244C-9E5149737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o 18">
            <a:extLst>
              <a:ext uri="{FF2B5EF4-FFF2-40B4-BE49-F238E27FC236}">
                <a16:creationId xmlns:a16="http://schemas.microsoft.com/office/drawing/2014/main" id="{59E0911B-D3CB-8E42-B804-F5E9D91056BC}"/>
              </a:ext>
            </a:extLst>
          </p:cNvPr>
          <p:cNvGrpSpPr/>
          <p:nvPr/>
        </p:nvGrpSpPr>
        <p:grpSpPr>
          <a:xfrm>
            <a:off x="7923769" y="683475"/>
            <a:ext cx="1953996" cy="1426190"/>
            <a:chOff x="1713879" y="1307911"/>
            <a:chExt cx="1953996" cy="1426190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C6CBC92C-6EEF-1FCE-6980-BAFF71421728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C11EBC6-4A24-3782-99C5-079779AAC4DE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9FAEAC6B-160B-B272-1746-91D156DEAFFD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9DC4398F-FF44-E465-48E6-2E5764AC725C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9D04F2CF-3A14-7222-84AE-F7FEEA6E04F6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DEB384F-F068-ACA5-2B9E-F6703B5214C7}"/>
                </a:ext>
              </a:extLst>
            </p:cNvPr>
            <p:cNvSpPr txBox="1"/>
            <p:nvPr/>
          </p:nvSpPr>
          <p:spPr>
            <a:xfrm>
              <a:off x="1713879" y="2210881"/>
              <a:ext cx="19539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default.xsl</a:t>
              </a:r>
            </a:p>
            <a:p>
              <a:pPr algn="ctr"/>
              <a:r>
                <a:rPr lang="es-ES" sz="1400" dirty="0">
                  <a:latin typeface="+mj-lt"/>
                </a:rPr>
                <a:t>(punto de entrada único)</a:t>
              </a:r>
            </a:p>
          </p:txBody>
        </p: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821F5E23-8539-9202-CA98-0CC8ADAEF0C8}"/>
              </a:ext>
            </a:extLst>
          </p:cNvPr>
          <p:cNvCxnSpPr>
            <a:cxnSpLocks/>
            <a:stCxn id="72" idx="1"/>
            <a:endCxn id="38" idx="3"/>
          </p:cNvCxnSpPr>
          <p:nvPr/>
        </p:nvCxnSpPr>
        <p:spPr>
          <a:xfrm rot="10800000">
            <a:off x="4094367" y="2736059"/>
            <a:ext cx="1986899" cy="1817862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5889B6F9-1AEC-B0D9-D16F-34AA5FBECC6E}"/>
              </a:ext>
            </a:extLst>
          </p:cNvPr>
          <p:cNvGrpSpPr/>
          <p:nvPr/>
        </p:nvGrpSpPr>
        <p:grpSpPr>
          <a:xfrm>
            <a:off x="6166148" y="2662621"/>
            <a:ext cx="1872629" cy="2301269"/>
            <a:chOff x="5159691" y="3311364"/>
            <a:chExt cx="1872629" cy="2301269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4D7A53B8-C44B-B9DE-BFBE-1CB4FF56D8AF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FC5A868F-02D4-1A04-5955-6E09493CCEAC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9572215D-03AB-1E6D-C0A3-78B8F0E4FCB4}"/>
                </a:ext>
              </a:extLst>
            </p:cNvPr>
            <p:cNvGrpSpPr/>
            <p:nvPr/>
          </p:nvGrpSpPr>
          <p:grpSpPr>
            <a:xfrm>
              <a:off x="5159691" y="3540112"/>
              <a:ext cx="1872629" cy="2072521"/>
              <a:chOff x="1754571" y="1307911"/>
              <a:chExt cx="1872629" cy="2072521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D9BD73F2-7D61-0FB0-D573-1A87E9E74D7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65740583-2C14-FDAD-E131-4452ACEB7BF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B6BD0955-0356-7677-1C57-F5EDF099E473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968CDFE7-3551-2098-2873-81A2723B2C4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6EBAA2FE-C677-0368-C2EB-670E8AE7E8BF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221FABC8-F7D3-E0FB-07D6-878A5224B8A9}"/>
                  </a:ext>
                </a:extLst>
              </p:cNvPr>
              <p:cNvSpPr txBox="1"/>
              <p:nvPr/>
            </p:nvSpPr>
            <p:spPr>
              <a:xfrm>
                <a:off x="1754571" y="2210881"/>
                <a:ext cx="1872629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/generate_table.xsl</a:t>
                </a:r>
              </a:p>
            </p:txBody>
          </p:sp>
        </p:grp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C917BE6F-E08E-A67C-CB89-C79481764C32}"/>
              </a:ext>
            </a:extLst>
          </p:cNvPr>
          <p:cNvGrpSpPr/>
          <p:nvPr/>
        </p:nvGrpSpPr>
        <p:grpSpPr>
          <a:xfrm>
            <a:off x="7484571" y="2109665"/>
            <a:ext cx="1416196" cy="552956"/>
            <a:chOff x="7484571" y="2109665"/>
            <a:chExt cx="1416196" cy="552956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328DDAB2-92C6-A9F9-3215-93E3D4B3644C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7484571" y="2109665"/>
              <a:ext cx="1416196" cy="552956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BEFB851F-43A8-047E-2157-F87421F9375F}"/>
                </a:ext>
              </a:extLst>
            </p:cNvPr>
            <p:cNvSpPr txBox="1"/>
            <p:nvPr/>
          </p:nvSpPr>
          <p:spPr>
            <a:xfrm rot="20315626">
              <a:off x="7564057" y="2114313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9C2827AE-E203-1635-7317-C25AE6890CA5}"/>
              </a:ext>
            </a:extLst>
          </p:cNvPr>
          <p:cNvSpPr txBox="1"/>
          <p:nvPr/>
        </p:nvSpPr>
        <p:spPr>
          <a:xfrm rot="3077395">
            <a:off x="4781436" y="3186393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955C6189-4372-F8ED-D1BE-EF699FA5E0C6}"/>
              </a:ext>
            </a:extLst>
          </p:cNvPr>
          <p:cNvGrpSpPr/>
          <p:nvPr/>
        </p:nvGrpSpPr>
        <p:grpSpPr>
          <a:xfrm>
            <a:off x="8566803" y="2681538"/>
            <a:ext cx="3426579" cy="4024818"/>
            <a:chOff x="4382720" y="3311364"/>
            <a:chExt cx="3426579" cy="4024818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E19B3048-7FCA-60AE-F534-48EFD494061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E26D2C9-888E-F5CC-3204-D4FABB6B219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8483880C-C829-C32F-2776-729626023AD2}"/>
                </a:ext>
              </a:extLst>
            </p:cNvPr>
            <p:cNvGrpSpPr/>
            <p:nvPr/>
          </p:nvGrpSpPr>
          <p:grpSpPr>
            <a:xfrm>
              <a:off x="4382720" y="3540112"/>
              <a:ext cx="3426579" cy="3796070"/>
              <a:chOff x="977600" y="1307911"/>
              <a:chExt cx="3426579" cy="3796070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314BE961-ACEC-EA60-C233-A576F57683F9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9012019E-BAE7-DF73-2FBA-1AC286F824E6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FEE7866C-230B-7483-72E9-5C76973BE031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35E089A1-1513-F172-0FFC-BDE820D20B82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255093A2-491E-1A4F-A91F-985BE636CD2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71FEEEF7-E5AD-5BCC-DECF-20E88DA101D0}"/>
                  </a:ext>
                </a:extLst>
              </p:cNvPr>
              <p:cNvSpPr txBox="1"/>
              <p:nvPr/>
            </p:nvSpPr>
            <p:spPr>
              <a:xfrm>
                <a:off x="977600" y="2210881"/>
                <a:ext cx="3426579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/general/comment.xsl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/general/bibliography_item.xsl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/general/meeting.xsl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/general/traceability_matrix.xsl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/any_archetype.xsl</a:t>
                </a:r>
              </a:p>
            </p:txBody>
          </p:sp>
        </p:grp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207BB250-4867-7F69-1018-FE4FF574B2AE}"/>
              </a:ext>
            </a:extLst>
          </p:cNvPr>
          <p:cNvSpPr txBox="1"/>
          <p:nvPr/>
        </p:nvSpPr>
        <p:spPr>
          <a:xfrm>
            <a:off x="9287148" y="64832"/>
            <a:ext cx="2849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/>
              <a:t>Refactorizado por Claude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4E2688F-7E16-8204-9668-A82E964A7BD2}"/>
              </a:ext>
            </a:extLst>
          </p:cNvPr>
          <p:cNvGrpSpPr/>
          <p:nvPr/>
        </p:nvGrpSpPr>
        <p:grpSpPr>
          <a:xfrm>
            <a:off x="335515" y="1019565"/>
            <a:ext cx="3758851" cy="2301269"/>
            <a:chOff x="4216582" y="3311364"/>
            <a:chExt cx="3758851" cy="2301269"/>
          </a:xfrm>
        </p:grpSpPr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CA818AD5-7816-FADA-004B-6DE21B339E9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B3609B64-684E-7F2F-028B-3A22E535A19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9" name="Grupo 28">
              <a:extLst>
                <a:ext uri="{FF2B5EF4-FFF2-40B4-BE49-F238E27FC236}">
                  <a16:creationId xmlns:a16="http://schemas.microsoft.com/office/drawing/2014/main" id="{133A2CB4-5002-D484-0EE4-408F2781E9BB}"/>
                </a:ext>
              </a:extLst>
            </p:cNvPr>
            <p:cNvGrpSpPr/>
            <p:nvPr/>
          </p:nvGrpSpPr>
          <p:grpSpPr>
            <a:xfrm>
              <a:off x="4216582" y="3540112"/>
              <a:ext cx="3758851" cy="2072521"/>
              <a:chOff x="811462" y="1307911"/>
              <a:chExt cx="3758851" cy="2072521"/>
            </a:xfrm>
          </p:grpSpPr>
          <p:grpSp>
            <p:nvGrpSpPr>
              <p:cNvPr id="30" name="Grupo 29">
                <a:extLst>
                  <a:ext uri="{FF2B5EF4-FFF2-40B4-BE49-F238E27FC236}">
                    <a16:creationId xmlns:a16="http://schemas.microsoft.com/office/drawing/2014/main" id="{18E5C1D7-8FCD-3428-8BF3-9A74712883D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9" name="Rectángulo 38">
                  <a:extLst>
                    <a:ext uri="{FF2B5EF4-FFF2-40B4-BE49-F238E27FC236}">
                      <a16:creationId xmlns:a16="http://schemas.microsoft.com/office/drawing/2014/main" id="{0E9489EA-68F6-32EE-E16D-4AA1A35360B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Elipse 39">
                  <a:extLst>
                    <a:ext uri="{FF2B5EF4-FFF2-40B4-BE49-F238E27FC236}">
                      <a16:creationId xmlns:a16="http://schemas.microsoft.com/office/drawing/2014/main" id="{049C6249-890F-6A4B-0144-8C9D88688992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2" name="Rectángulo 41">
                  <a:extLst>
                    <a:ext uri="{FF2B5EF4-FFF2-40B4-BE49-F238E27FC236}">
                      <a16:creationId xmlns:a16="http://schemas.microsoft.com/office/drawing/2014/main" id="{324F74EB-7ADA-AD10-635F-157EB082047B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3" name="Rectángulo 42">
                  <a:extLst>
                    <a:ext uri="{FF2B5EF4-FFF2-40B4-BE49-F238E27FC236}">
                      <a16:creationId xmlns:a16="http://schemas.microsoft.com/office/drawing/2014/main" id="{1DA2D820-4EAA-4831-4D46-8842579F86F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AE43DAA6-324A-0394-3056-2A2EAB0D1BCB}"/>
                  </a:ext>
                </a:extLst>
              </p:cNvPr>
              <p:cNvSpPr txBox="1"/>
              <p:nvPr/>
            </p:nvSpPr>
            <p:spPr>
              <a:xfrm>
                <a:off x="811462" y="2210881"/>
                <a:ext cx="375885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/>
                  <a:t>&lt;perfil&gt;/i18n/&lt;idioma&gt;/archetypes_labels.xml</a:t>
                </a:r>
              </a:p>
              <a:p>
                <a:pPr algn="ctr"/>
                <a:r>
                  <a:rPr lang="es-ES" sz="1400" dirty="0"/>
                  <a:t>&lt;perfil&gt;/i18n/&lt;idioma&gt;/xslt_labels.xml</a:t>
                </a:r>
              </a:p>
              <a:p>
                <a:pPr algn="ctr"/>
                <a:endParaRPr lang="es-ES" sz="1400" dirty="0"/>
              </a:p>
              <a:p>
                <a:pPr algn="ctr"/>
                <a:r>
                  <a:rPr lang="es-ES" sz="1400" dirty="0"/>
                  <a:t>Se accede desde XSLT mediante</a:t>
                </a:r>
              </a:p>
              <a:p>
                <a:pPr algn="ctr"/>
                <a:r>
                  <a:rPr lang="es-ES" sz="1400" b="1" dirty="0"/>
                  <a:t>proteus-utils:i18n(</a:t>
                </a:r>
                <a:r>
                  <a:rPr lang="es-ES" sz="1400" b="1" dirty="0" err="1"/>
                  <a:t>key</a:t>
                </a:r>
                <a:r>
                  <a:rPr lang="es-ES" sz="1400" b="1" dirty="0"/>
                  <a:t>, ...)</a:t>
                </a:r>
              </a:p>
            </p:txBody>
          </p:sp>
        </p:grp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A556FE39-E36C-3468-D1D0-8FD5087BC890}"/>
              </a:ext>
            </a:extLst>
          </p:cNvPr>
          <p:cNvGrpSpPr/>
          <p:nvPr/>
        </p:nvGrpSpPr>
        <p:grpSpPr>
          <a:xfrm>
            <a:off x="8900767" y="2109665"/>
            <a:ext cx="1761430" cy="571873"/>
            <a:chOff x="6559262" y="455318"/>
            <a:chExt cx="1761430" cy="571873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9C2A3544-575F-4C7E-2639-9CD3B553FB8E}"/>
                </a:ext>
              </a:extLst>
            </p:cNvPr>
            <p:cNvCxnSpPr>
              <a:cxnSpLocks/>
              <a:stCxn id="21" idx="2"/>
              <a:endCxn id="75" idx="0"/>
            </p:cNvCxnSpPr>
            <p:nvPr/>
          </p:nvCxnSpPr>
          <p:spPr>
            <a:xfrm>
              <a:off x="6559262" y="455318"/>
              <a:ext cx="1761430" cy="571873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C2E214D1-DD2C-AEDF-C4C1-84AA0414140E}"/>
                </a:ext>
              </a:extLst>
            </p:cNvPr>
            <p:cNvSpPr txBox="1"/>
            <p:nvPr/>
          </p:nvSpPr>
          <p:spPr>
            <a:xfrm rot="1070032">
              <a:off x="7169556" y="493809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sp>
        <p:nvSpPr>
          <p:cNvPr id="72" name="Abrir llave 71">
            <a:extLst>
              <a:ext uri="{FF2B5EF4-FFF2-40B4-BE49-F238E27FC236}">
                <a16:creationId xmlns:a16="http://schemas.microsoft.com/office/drawing/2014/main" id="{222AB1E0-62E7-D93F-BA3A-CDF668E85FEB}"/>
              </a:ext>
            </a:extLst>
          </p:cNvPr>
          <p:cNvSpPr/>
          <p:nvPr/>
        </p:nvSpPr>
        <p:spPr>
          <a:xfrm>
            <a:off x="6081265" y="2453098"/>
            <a:ext cx="227591" cy="4201645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63924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D8A2F39-A04F-8F57-6E10-6FD7ADE0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215" y="376547"/>
            <a:ext cx="8192643" cy="34675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8A630B-8337-EE3B-85B4-9B0B4475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3198" y="4076138"/>
            <a:ext cx="8240275" cy="22863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67BD650-7DE6-4C6C-A08F-3FF0F345B8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694520" y="4261566"/>
            <a:ext cx="987517" cy="95773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8600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630CE-D883-96C3-C3F5-AD729950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42E89C4-8430-BD5D-7505-B26A2E74E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59" y="1002218"/>
            <a:ext cx="6925642" cy="161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364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lipse 12">
            <a:extLst>
              <a:ext uri="{FF2B5EF4-FFF2-40B4-BE49-F238E27FC236}">
                <a16:creationId xmlns:a16="http://schemas.microsoft.com/office/drawing/2014/main" id="{DD1F338A-52ED-F531-9B34-E3DBF79F475C}"/>
              </a:ext>
            </a:extLst>
          </p:cNvPr>
          <p:cNvSpPr/>
          <p:nvPr/>
        </p:nvSpPr>
        <p:spPr>
          <a:xfrm>
            <a:off x="5752499" y="3076032"/>
            <a:ext cx="687003" cy="68700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81D8D0D-F127-EDF4-179E-8739ADFA4E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2" y="3114771"/>
            <a:ext cx="609524" cy="60952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50BD451-E336-0E66-D3DC-99E9E69AE2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3816" y="2286000"/>
            <a:ext cx="457200" cy="457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FC83CCA-2666-E39A-15D7-F74178653A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356" y="954100"/>
            <a:ext cx="608400" cy="6084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03FBA85-7AFD-EF2D-779B-AF7823EF5D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662" y="2054390"/>
            <a:ext cx="609524" cy="609524"/>
          </a:xfrm>
          <a:prstGeom prst="rect">
            <a:avLst/>
          </a:prstGeom>
        </p:spPr>
      </p:pic>
      <p:pic>
        <p:nvPicPr>
          <p:cNvPr id="12" name="Imagen 11" descr="Imágenes de Lexicon Icon: descubre bancos de fotos, ilustraciones, vectores  y vídeos de 31,485 | Adobe Stock">
            <a:extLst>
              <a:ext uri="{FF2B5EF4-FFF2-40B4-BE49-F238E27FC236}">
                <a16:creationId xmlns:a16="http://schemas.microsoft.com/office/drawing/2014/main" id="{829BEA07-C01A-615F-F916-F89E2D2E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9482" t="24182" r="13550" b="24671"/>
          <a:stretch>
            <a:fillRect/>
          </a:stretch>
        </p:blipFill>
        <p:spPr>
          <a:xfrm>
            <a:off x="2235993" y="2002629"/>
            <a:ext cx="608400" cy="64402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BE1D1ED-6BC6-5390-D923-5093CAA883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0561" y="3521363"/>
            <a:ext cx="608400" cy="6084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96634AB-D6CD-A32F-102E-CC0651C99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401" y="3520239"/>
            <a:ext cx="609524" cy="6095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1DC5D30-9F2E-487B-2F6F-60DE3579B3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703" y="2074305"/>
            <a:ext cx="378868" cy="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0795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707</Words>
  <Application>Microsoft Office PowerPoint</Application>
  <PresentationFormat>Panorámica</PresentationFormat>
  <Paragraphs>118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Durán Toro</cp:lastModifiedBy>
  <cp:revision>9</cp:revision>
  <cp:lastPrinted>2026-09-17T17:33:05Z</cp:lastPrinted>
  <dcterms:created xsi:type="dcterms:W3CDTF">2026-07-29T09:20:51Z</dcterms:created>
  <dcterms:modified xsi:type="dcterms:W3CDTF">2026-09-20T22:18:46Z</dcterms:modified>
</cp:coreProperties>
</file>